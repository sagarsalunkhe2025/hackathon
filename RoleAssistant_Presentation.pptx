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1371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Role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4B4DC"/>
                </a:solidFill>
                <a:latin typeface="Segoe UI"/>
              </a:defRPr>
            </a:pPr>
            <a:r>
              <a:t>AI-Powered SAP Role Governance &amp; Risk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5720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366F1"/>
                </a:solidFill>
                <a:latin typeface="Segoe UI Semibold"/>
              </a:defRPr>
            </a:pPr>
            <a:r>
              <a:t>Ask your data, don’t query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3035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6478"/>
                </a:solidFill>
                <a:latin typeface="Segoe UI"/>
              </a:defRPr>
            </a:pPr>
            <a:r>
              <a:t>Hackathon Presentation •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2E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37160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E2E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SAP role governance challenges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084832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665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E2E"/>
                </a:solidFill>
                <a:latin typeface="Segoe UI"/>
              </a:defRPr>
            </a:pPr>
            <a:r>
              <a:t>What We Aim to Achieve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591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Vision and success metrics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798064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797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E2E"/>
                </a:solidFill>
                <a:latin typeface="Segoe UI"/>
              </a:defRPr>
            </a:pPr>
            <a:r>
              <a:t>Solution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723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Role Assistant capabilities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511296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493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E2E"/>
                </a:solidFill>
                <a:latin typeface="Segoe UI"/>
              </a:defRPr>
            </a:pPr>
            <a:r>
              <a:t>Architecture &amp;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856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How the system works end-to-end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224528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E2E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498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NL chat, analyses, risk scoring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93776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19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E2E"/>
                </a:solidFill>
                <a:latin typeface="Segoe UI"/>
              </a:defRPr>
            </a:pPr>
            <a:r>
              <a:t>Business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212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ROI and compliance alignment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650992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327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E2E"/>
                </a:solidFill>
                <a:latin typeface="Segoe UI"/>
              </a:defRPr>
            </a:pPr>
            <a:r>
              <a:t>Future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925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What’s next for Role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Segoe UI"/>
              </a:defRPr>
            </a:pPr>
            <a:r>
              <a:t>The Problem: SAP Role Governance is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78"/>
                </a:solidFill>
                <a:latin typeface="Segoe UI"/>
              </a:defRPr>
            </a:pPr>
            <a:r>
              <a:t>Enterprise SAP environments accumulate thousands of roles and millions of user-role assignments over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173736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1737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🔁  Duplicate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Segoe UI"/>
              </a:defRPr>
            </a:pPr>
            <a:r>
              <a:t>Identical permissions, different names — wasted effort &amp; audit confusion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645920"/>
            <a:ext cx="3474720" cy="173736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🚫  Unused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402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Segoe UI"/>
              </a:defRPr>
            </a:pPr>
            <a:r>
              <a:t>Never assigned to any user — bloated landscape, increased attack surface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474720" cy="173736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73152" cy="1737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⚠️  Over-Privileged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402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Segoe UI"/>
              </a:defRPr>
            </a:pPr>
            <a:r>
              <a:t>20+ roles or ALL transaction codes — SOD violations &amp; audit failures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3474720" cy="173736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⏰  Expired Assignments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51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Segoe UI"/>
              </a:defRPr>
            </a:pPr>
            <a:r>
              <a:t>Past expiry date but still active — regulatory non-compliance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657600"/>
            <a:ext cx="3474720" cy="173736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657600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794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🔗  Orphaned Assignments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51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Segoe UI"/>
              </a:defRPr>
            </a:pPr>
            <a:r>
              <a:t>Mappings to deleted roles — data integrity breakdown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657600"/>
            <a:ext cx="3474720" cy="173736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657600"/>
            <a:ext cx="73152" cy="1737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794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🔒  No Self-Service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251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Segoe UI"/>
              </a:defRPr>
            </a:pPr>
            <a:r>
              <a:t>Business users depend on IT — weeks of delay for security insights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852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C"/>
                </a:solidFill>
                <a:latin typeface="Segoe UI"/>
              </a:defRPr>
            </a:pPr>
            <a:r>
              <a:t>“Organizations spend $2.5M+ annually on manual SAP role reviews. Security teams lack real-time visibility, and business users cannot self-serve.”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2E"/>
                </a:solidFill>
                <a:latin typeface="Segoe UI"/>
              </a:defRPr>
            </a:pPr>
            <a:r>
              <a:t>What We Aim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Segoe UI"/>
              </a:defRPr>
            </a:pPr>
            <a:r>
              <a:t>Vision: Democratize SAP Role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💬  Natural Language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Let business users ask role governance questions in plain English — no SQL knowledge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54864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⚡  Instant Risk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Surface over-privileged users, duplicates, and expired assignments in seconds — not weeks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54864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🧠  AI-Powered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03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Use LLMs to generate SQL queries, analyze results, and provide actionable insights with severity ratings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59"/>
            <a:ext cx="54864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🛡️  Proactive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719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Shift from reactive audit responses to proactive, continuous role monitoring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54864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📊  Quantitative Risk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440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Assign risk scores to users based on role count, privileges, and expired assignments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645920"/>
            <a:ext cx="4754880" cy="4297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Segoe UI"/>
              </a:defRPr>
            </a:pPr>
            <a:r>
              <a:t>Success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Segoe UI"/>
              </a:defRPr>
            </a:pPr>
            <a:r>
              <a:t>⏱️  Time-to-Insight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606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Weeks → Seconds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Segoe UI"/>
              </a:defRPr>
            </a:pPr>
            <a:r>
              <a:t>🔍 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383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7 pre-built + unlimited NL queries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840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Segoe UI"/>
              </a:defRPr>
            </a:pPr>
            <a:r>
              <a:t>🎯  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160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AI SQL validated &amp; sandboxed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617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Segoe UI"/>
              </a:defRPr>
            </a:pPr>
            <a:r>
              <a:t>👥  Accessibility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937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Zero SQL knowledge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2E"/>
                </a:solidFill>
                <a:latin typeface="Segoe UI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78"/>
                </a:solidFill>
                <a:latin typeface="Segoe UI"/>
              </a:defRPr>
            </a:pPr>
            <a:r>
              <a:t>Role Assistant is an intelligent conversational interface that sits on top of your SAP role data. Users type questions in natural language, and the system translates, executes, analyzes, and presents.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560320" cy="1645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FF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Translate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6FF"/>
                </a:solidFill>
                <a:latin typeface="Segoe UI"/>
              </a:defRPr>
            </a:pPr>
            <a:r>
              <a:t>Question → safe T-SQL</a:t>
            </a:r>
            <a:br/>
            <a:r>
              <a:t>via GPT-4o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2103120"/>
            <a:ext cx="2560320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FF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Execute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6FF"/>
                </a:solidFill>
                <a:latin typeface="Segoe UI"/>
              </a:defRPr>
            </a:pPr>
            <a:r>
              <a:t>Run query against</a:t>
            </a:r>
            <a:br/>
            <a:r>
              <a:t>SAP role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103120"/>
            <a:ext cx="2560320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FF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6FF"/>
                </a:solidFill>
                <a:latin typeface="Segoe UI"/>
              </a:defRPr>
            </a:pPr>
            <a:r>
              <a:t>AI generates</a:t>
            </a:r>
            <a:br/>
            <a:r>
              <a:t>human-readable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2103120"/>
            <a:ext cx="2560320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FF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Present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6FF"/>
                </a:solidFill>
                <a:latin typeface="Segoe UI"/>
              </a:defRPr>
            </a:pPr>
            <a:r>
              <a:t>Insights + data table</a:t>
            </a:r>
            <a:br/>
            <a:r>
              <a:t>+ generated 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1E2E"/>
                </a:solidFill>
                <a:latin typeface="Segoe UI"/>
              </a:defRPr>
            </a:pPr>
            <a:r>
              <a:t>Two Modes of Operation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663440"/>
            <a:ext cx="5303520" cy="19202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663440"/>
            <a:ext cx="73152" cy="1920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Segoe UI"/>
              </a:defRPr>
            </a:pPr>
            <a:r>
              <a:t>💬  Chat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206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Ask anything in English: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28283C"/>
                </a:solidFill>
                <a:latin typeface="Segoe UI"/>
              </a:defRPr>
            </a:pPr>
            <a:r>
              <a:t>"Show users with &gt;10 roles"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28283C"/>
                </a:solidFill>
                <a:latin typeface="Segoe UI"/>
              </a:defRPr>
            </a:pPr>
            <a:r>
              <a:t>"Find roles in Finance area"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28283C"/>
                </a:solidFill>
                <a:latin typeface="Segoe UI"/>
              </a:defRPr>
            </a:pPr>
            <a:r>
              <a:t>"Who has full access?"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663440"/>
            <a:ext cx="5303520" cy="19202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66344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📊  Quick Analysis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1206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One-click pre-built analyses: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28283C"/>
                </a:solidFill>
                <a:latin typeface="Segoe UI"/>
              </a:defRPr>
            </a:pPr>
            <a:r>
              <a:t>Duplicate &amp; Unused Roles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28283C"/>
                </a:solidFill>
                <a:latin typeface="Segoe UI"/>
              </a:defRPr>
            </a:pPr>
            <a:r>
              <a:t>Over-Privileged Users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28283C"/>
                </a:solidFill>
                <a:latin typeface="Segoe UI"/>
              </a:defRPr>
            </a:pPr>
            <a:r>
              <a:t>Expired &amp; Orphaned Assignments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28283C"/>
                </a:solidFill>
                <a:latin typeface="Segoe UI"/>
              </a:defRPr>
            </a:pPr>
            <a:r>
              <a:t>Role Distribution &amp; User Risk Scoring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2E"/>
                </a:solidFill>
                <a:latin typeface="Segoe UI"/>
              </a:defRPr>
            </a:pPr>
            <a:r>
              <a:t>Architecture &amp;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926080" cy="2377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6FF"/>
                </a:solidFill>
                <a:latin typeface="Segoe UI"/>
              </a:defRPr>
            </a:pPr>
            <a:r>
              <a:t>React 18 + TypeScript</a:t>
            </a:r>
            <a:br/>
            <a:r>
              <a:t>Vite</a:t>
            </a:r>
            <a:br/>
            <a:br/>
            <a:r>
              <a:t>• Chat UI</a:t>
            </a:r>
            <a:br/>
            <a:r>
              <a:t>• Data Tables</a:t>
            </a:r>
            <a:br/>
            <a:r>
              <a:t>• Quick Analysis Sidebar</a:t>
            </a:r>
            <a:br/>
            <a:r>
              <a:t>• Category Filters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463040"/>
            <a:ext cx="3474720" cy="2377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5727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BACKEND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6FF"/>
                </a:solidFill>
                <a:latin typeface="Segoe UI"/>
              </a:defRPr>
            </a:pPr>
            <a:r>
              <a:t>ASP.NET Core 9 (C#)</a:t>
            </a:r>
            <a:br/>
            <a:br/>
            <a:r>
              <a:t>• ChatController</a:t>
            </a:r>
            <a:br/>
            <a:r>
              <a:t>• AnalysisController</a:t>
            </a:r>
            <a:br/>
            <a:r>
              <a:t>• AiService</a:t>
            </a:r>
            <a:br/>
            <a:r>
              <a:t>• SqlExecutionService</a:t>
            </a:r>
            <a:br/>
            <a:r>
              <a:t>• SchemaProvider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3383280" cy="2377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727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 /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6FF"/>
                </a:solidFill>
                <a:latin typeface="Segoe UI"/>
              </a:defRPr>
            </a:pPr>
            <a:r>
              <a:t>GPT-4o</a:t>
            </a:r>
            <a:br/>
            <a:r>
              <a:t>(OpenAI / GitHub Models)</a:t>
            </a:r>
            <a:br/>
            <a:br/>
            <a:r>
              <a:t>• NL → SQL Translation</a:t>
            </a:r>
            <a:br/>
            <a:r>
              <a:t>• Result Summarization</a:t>
            </a:r>
            <a:br/>
            <a:r>
              <a:t>• Insight Generation</a:t>
            </a:r>
            <a:br/>
            <a:r>
              <a:t>• Temp: 0.1 (deterministic)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78"/>
                </a:solidFill>
                <a:latin typeface="Segoe UI"/>
              </a:defRPr>
            </a:pPr>
            <a:r>
              <a:t>◄►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51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6478"/>
                </a:solidFill>
                <a:latin typeface="Segoe UI"/>
              </a:defRPr>
            </a:pPr>
            <a:r>
              <a:t>REST/JSON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78"/>
                </a:solidFill>
                <a:latin typeface="Segoe UI"/>
              </a:defRPr>
            </a:pPr>
            <a:r>
              <a:t>◄►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651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6478"/>
                </a:solidFill>
                <a:latin typeface="Segoe UI"/>
              </a:defRPr>
            </a:pPr>
            <a:r>
              <a:t>HTTP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4389120"/>
            <a:ext cx="347472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4988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SQL SERVER — ProfileTailor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9377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Segoe UI"/>
              </a:defRPr>
            </a:pPr>
            <a:r>
              <a:t>• SapRoles          • Users</a:t>
            </a:r>
            <a:br/>
            <a:r>
              <a:t>• SapUserRoles    • RoleTypes</a:t>
            </a:r>
            <a:br/>
            <a:r>
              <a:t>• UsersGroups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931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6478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160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6478"/>
                </a:solidFill>
                <a:latin typeface="Segoe UI"/>
              </a:defRPr>
            </a:pPr>
            <a:r>
              <a:t>T-SQL (SELECT only)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389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E2E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46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846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3C"/>
                </a:solidFill>
                <a:latin typeface="Segoe UI"/>
              </a:defRPr>
            </a:pPr>
            <a:r>
              <a:t>React 18 + TS + Vite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2303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52303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3C"/>
                </a:solidFill>
                <a:latin typeface="Segoe UI"/>
              </a:defRPr>
            </a:pPr>
            <a:r>
              <a:t>ASP.NET Core 9 (C#)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6144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Segoe UI"/>
              </a:defRPr>
            </a:pPr>
            <a:r>
              <a:t>AI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56144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3C"/>
                </a:solidFill>
                <a:latin typeface="Segoe UI"/>
              </a:defRPr>
            </a:pPr>
            <a:r>
              <a:t>GPT-4o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9984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5998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3C"/>
                </a:solidFill>
                <a:latin typeface="Segoe UI"/>
              </a:defRPr>
            </a:pPr>
            <a:r>
              <a:t>SQL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2E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94960" cy="21945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2194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Segoe UI"/>
              </a:defRPr>
            </a:pPr>
            <a:r>
              <a:t>💬  Natural Language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Segoe UI"/>
              </a:defRPr>
            </a:pPr>
            <a:r>
              <a:t>Ask in plain English — no SQL needed: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"Show me all users with more than 10 roles"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"Find duplicate roles in the system"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"Which users in Finance have roles expiring?"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"List roles that grant all transaction codes"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394960" cy="21945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73152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📊  7 Pre-Built Governance Analyses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3C"/>
                </a:solidFill>
                <a:latin typeface="Segoe UI"/>
              </a:defRPr>
            </a:pPr>
            <a:r>
              <a:t>Duplicate Roles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Unused Roles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Over-Privileged Users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Expired Assignments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Orphaned Assignments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Role Distribution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User Risk Scoring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49039"/>
            <a:ext cx="3474720" cy="2743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73152" cy="274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🧠  AI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Segoe UI"/>
              </a:defRPr>
            </a:pPr>
            <a:r>
              <a:t>Severity-rated findings: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Segoe UI"/>
              </a:defRPr>
            </a:pPr>
            <a:r>
              <a:t>🔵  Info — Informational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Segoe UI"/>
              </a:defRPr>
            </a:pPr>
            <a:r>
              <a:t>🟡  Warning — Attention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🔴  Critical — Immediate 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749039"/>
            <a:ext cx="3657600" cy="27432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3749039"/>
            <a:ext cx="73152" cy="2743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🔒  Safety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519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3C"/>
                </a:solidFill>
                <a:latin typeface="Segoe UI"/>
              </a:defRPr>
            </a:pPr>
            <a:r>
              <a:t>SELECT-only enforcement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Dangerous keyword blocking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Low temperature (0.1)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30-second query timeout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8283C"/>
                </a:solidFill>
                <a:latin typeface="Segoe UI"/>
              </a:defRPr>
            </a:pPr>
            <a:r>
              <a:t>Full schema context for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749039"/>
            <a:ext cx="3383280" cy="2743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749039"/>
            <a:ext cx="73152" cy="2743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📈  Risk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Segoe UI"/>
              </a:defRPr>
            </a:pPr>
            <a:r>
              <a:t>Formula: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4663440"/>
            <a:ext cx="2926080" cy="640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709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FFB4"/>
                </a:solidFill>
                <a:latin typeface="Consolas"/>
              </a:defRPr>
            </a:pPr>
            <a:r>
              <a:t>Risk = Roles×1</a:t>
            </a:r>
            <a:br/>
            <a:r>
              <a:t>+ Critical×10</a:t>
            </a:r>
            <a:br/>
            <a:r>
              <a:t>+ Expired×5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394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78"/>
                </a:solidFill>
                <a:latin typeface="Segoe UI"/>
              </a:defRPr>
            </a:pPr>
            <a:r>
              <a:t>Enables prioritized remediation — fix highest-risk users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2E"/>
                </a:solidFill>
                <a:latin typeface="Segoe UI"/>
              </a:defRPr>
            </a:pPr>
            <a:r>
              <a:t>Business Impact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4297680"/>
              </a:tblGrid>
              <a:tr h="381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Before Role Assistant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After Role Assistant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Time to Answer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Days to weeks (manual SQL)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Seconds (AI-generated)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Audience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DBAs &amp; IT only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All business users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Analysis 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Ad-hoc, inconsistent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7 standardized + unlimited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Audit Preparation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Manual role reviews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Continuous, automated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Risk Visibility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Periodic (quarterly)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8283C"/>
                          </a:solidFill>
                          <a:latin typeface="Segoe UI"/>
                        </a:defRPr>
                      </a:pPr>
                      <a:r>
                        <a:t>Real-time, on-demand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1E2E"/>
                </a:solidFill>
                <a:latin typeface="Segoe UI"/>
              </a:defRPr>
            </a:pPr>
            <a:r>
              <a:t>Strategic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389120"/>
            <a:ext cx="3566160" cy="100584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389120"/>
            <a:ext cx="54864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Segoe UI"/>
              </a:defRPr>
            </a:pPr>
            <a:r>
              <a:t>🔐  Reduced Security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78"/>
                </a:solidFill>
                <a:latin typeface="Segoe UI"/>
              </a:defRPr>
            </a:pPr>
            <a:r>
              <a:t>Instant detection of over-privileged users &amp; orphaned roles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4389120"/>
            <a:ext cx="3566160" cy="100584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4389120"/>
            <a:ext cx="54864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Segoe UI"/>
              </a:defRPr>
            </a:pPr>
            <a:r>
              <a:t>📋  Audit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78"/>
                </a:solidFill>
                <a:latin typeface="Segoe UI"/>
              </a:defRPr>
            </a:pPr>
            <a:r>
              <a:t>Aligns with SOX, SOD, and GRC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4389120"/>
            <a:ext cx="3566160" cy="100584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4389120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Segoe UI"/>
              </a:defRPr>
            </a:pPr>
            <a:r>
              <a:t>💰  Cost Savings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78"/>
                </a:solidFill>
                <a:latin typeface="Segoe UI"/>
              </a:defRPr>
            </a:pPr>
            <a:r>
              <a:t>60-80% reduction in manual analysis effort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77840"/>
            <a:ext cx="3566160" cy="100584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577840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Segoe UI"/>
              </a:defRPr>
            </a:pPr>
            <a:r>
              <a:t>👥  Self-Service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78"/>
                </a:solidFill>
                <a:latin typeface="Segoe UI"/>
              </a:defRPr>
            </a:pPr>
            <a:r>
              <a:t>Business users get answers independently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5577840"/>
            <a:ext cx="3566160" cy="100584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557784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Segoe UI"/>
              </a:defRPr>
            </a:pPr>
            <a:r>
              <a:t>⚡  Faster Remediation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78"/>
                </a:solidFill>
                <a:latin typeface="Segoe UI"/>
              </a:defRPr>
            </a:pPr>
            <a:r>
              <a:t>Risk-scored prioritization of cleanup 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5577840"/>
            <a:ext cx="3566160" cy="100584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5577840"/>
            <a:ext cx="54864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Segoe UI"/>
              </a:defRPr>
            </a:pPr>
            <a:r>
              <a:t>📊  Data-Driven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78"/>
                </a:solidFill>
                <a:latin typeface="Segoe UI"/>
              </a:defRPr>
            </a:pPr>
            <a:r>
              <a:t>Quantitative role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2E"/>
                </a:solidFill>
                <a:latin typeface="Segoe UI"/>
              </a:defRPr>
            </a:pPr>
            <a: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566160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3566160" cy="18288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4864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Remediation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One-click role revocation and reassignment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06240"/>
            <a:ext cx="3566160" cy="18288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206240"/>
            <a:ext cx="54864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Scheduled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Automated weekly/monthly governance reports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356616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v2.5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194560"/>
            <a:ext cx="3566160" cy="18288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194560"/>
            <a:ext cx="54864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Multi-System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7889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Analyze roles across multiple SAP systems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4206240"/>
            <a:ext cx="3566160" cy="18288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4206240"/>
            <a:ext cx="54864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SOD Rule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Built-in Segregation of Duties conflict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371600"/>
            <a:ext cx="356616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v3.0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194560"/>
            <a:ext cx="3566160" cy="18288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2194560"/>
            <a:ext cx="5486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AI Role Mining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7889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AI-suggested optimal role definitions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206240"/>
            <a:ext cx="3566160" cy="18288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206240"/>
            <a:ext cx="5486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Segoe UI"/>
              </a:defRPr>
            </a:pPr>
            <a:r>
              <a:t>Pathlock GRC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  <a:latin typeface="Segoe UI"/>
              </a:defRPr>
            </a:pPr>
            <a:r>
              <a:t>Feed insights into the Pathlock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303520" cy="1051560"/>
          </a:xfrm>
          <a:prstGeom prst="rect">
            <a:avLst/>
          </a:prstGeom>
          <a:solidFill>
            <a:srgbClr val="2D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73152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Segoe UI"/>
              </a:defRPr>
            </a:pPr>
            <a:r>
              <a:t>SAP role governance is manual, slow, and inaccessible to business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37360"/>
            <a:ext cx="5303520" cy="1051560"/>
          </a:xfrm>
          <a:prstGeom prst="rect">
            <a:avLst/>
          </a:prstGeom>
          <a:solidFill>
            <a:srgbClr val="2D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73152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28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  <a:latin typeface="Segoe UI"/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945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Segoe UI"/>
              </a:defRPr>
            </a:pPr>
            <a:r>
              <a:t>AI-powered chat interface: English → SQL →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5303520" cy="1051560"/>
          </a:xfrm>
          <a:prstGeom prst="rect">
            <a:avLst/>
          </a:prstGeom>
          <a:solidFill>
            <a:srgbClr val="2D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73152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egoe UI"/>
              </a:defRPr>
            </a:pPr>
            <a:r>
              <a:t>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Segoe UI"/>
              </a:defRPr>
            </a:pPr>
            <a:r>
              <a:t>React + ASP.NET Core 9 + GPT-4o + SQL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17520"/>
            <a:ext cx="5303520" cy="1051560"/>
          </a:xfrm>
          <a:prstGeom prst="rect">
            <a:avLst/>
          </a:prstGeom>
          <a:solidFill>
            <a:srgbClr val="2D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017520"/>
            <a:ext cx="73152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Innovation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474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Segoe UI"/>
              </a:defRPr>
            </a:pPr>
            <a:r>
              <a:t>Natural language to safe, validated SQL with governance insights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97680"/>
            <a:ext cx="5303520" cy="1051560"/>
          </a:xfrm>
          <a:prstGeom prst="rect">
            <a:avLst/>
          </a:prstGeom>
          <a:solidFill>
            <a:srgbClr val="2D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9768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89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754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Segoe UI"/>
              </a:defRPr>
            </a:pPr>
            <a:r>
              <a:t>Seconds instead of weeks · Self-service · Continuous compliance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297680"/>
            <a:ext cx="5303520" cy="1051560"/>
          </a:xfrm>
          <a:prstGeom prst="rect">
            <a:avLst/>
          </a:prstGeom>
          <a:solidFill>
            <a:srgbClr val="2D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29768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389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Differentiator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754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Segoe UI"/>
              </a:defRPr>
            </a:pPr>
            <a:r>
              <a:t>Safety-first design + quantitative risk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486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366F1"/>
                </a:solidFill>
                <a:latin typeface="Segoe UI"/>
              </a:defRPr>
            </a:pPr>
            <a:r>
              <a:t>🛡️  Role Assistant — Ask your data, don’t query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126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DC"/>
                </a:solidFill>
                <a:latin typeface="Segoe UI"/>
              </a:defRPr>
            </a:pPr>
            <a:r>
              <a:t>Thank You! 🙏   Questions?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